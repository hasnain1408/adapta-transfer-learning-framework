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CE4313-89C2-4F62-8577-E2290BA4CC8B}">
  <a:tblStyle styleId="{1BCE4313-89C2-4F62-8577-E2290BA4CC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963eaf6f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e963eaf6f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963eaf6f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https://arxiv.org/pdf/1807.00516" TargetMode="External"/><Relationship Id="rId10" Type="http://schemas.openxmlformats.org/officeDocument/2006/relationships/hyperlink" Target="https://arxiv.org/pdf/1807.00516" TargetMode="External"/><Relationship Id="rId13" Type="http://schemas.openxmlformats.org/officeDocument/2006/relationships/hyperlink" Target="https://www.sciencedirect.com/science/article/pii/S1110016825011573" TargetMode="External"/><Relationship Id="rId12" Type="http://schemas.openxmlformats.org/officeDocument/2006/relationships/hyperlink" Target="https://www.sciencedirect.com/science/article/pii/S1110016825011573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cse.ust.hk/~jamesk/papers/tnn11.pdf" TargetMode="External"/><Relationship Id="rId4" Type="http://schemas.openxmlformats.org/officeDocument/2006/relationships/hyperlink" Target="https://www.cse.ust.hk/~jamesk/papers/tnn11.pdf" TargetMode="External"/><Relationship Id="rId9" Type="http://schemas.openxmlformats.org/officeDocument/2006/relationships/hyperlink" Target="https://arxiv.org/pdf/1807.00516" TargetMode="External"/><Relationship Id="rId15" Type="http://schemas.openxmlformats.org/officeDocument/2006/relationships/hyperlink" Target="https://arxiv.org/pdf/1612.01939" TargetMode="External"/><Relationship Id="rId14" Type="http://schemas.openxmlformats.org/officeDocument/2006/relationships/hyperlink" Target="https://www.sciencedirect.com/science/article/pii/S1110016825011573" TargetMode="External"/><Relationship Id="rId17" Type="http://schemas.openxmlformats.org/officeDocument/2006/relationships/hyperlink" Target="https://arxiv.org/pdf/1612.01939" TargetMode="External"/><Relationship Id="rId16" Type="http://schemas.openxmlformats.org/officeDocument/2006/relationships/hyperlink" Target="https://arxiv.org/pdf/1612.01939" TargetMode="External"/><Relationship Id="rId5" Type="http://schemas.openxmlformats.org/officeDocument/2006/relationships/hyperlink" Target="https://www.cse.ust.hk/~jamesk/papers/tnn11.pdf" TargetMode="External"/><Relationship Id="rId6" Type="http://schemas.openxmlformats.org/officeDocument/2006/relationships/hyperlink" Target="https://web.archive.org/web/20150319022151id_/http://ise.thss.tsinghua.edu.cn:80/~mlong/doc/joint-iccv13.pdf" TargetMode="External"/><Relationship Id="rId7" Type="http://schemas.openxmlformats.org/officeDocument/2006/relationships/hyperlink" Target="https://web.archive.org/web/20150319022151id_/http://ise.thss.tsinghua.edu.cn:80/~mlong/doc/joint-iccv13.pdf" TargetMode="External"/><Relationship Id="rId8" Type="http://schemas.openxmlformats.org/officeDocument/2006/relationships/hyperlink" Target="https://web.archive.org/web/20150319022151id_/http://ise.thss.tsinghua.edu.cn:80/~mlong/doc/joint-iccv13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B3A5C">
              <a:alpha val="60000"/>
            </a:srgbClr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0C9A7">
              <a:alpha val="20000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48640" y="1143000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Purpose Transfer Learning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for Cross-Domain Classification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2926080"/>
            <a:ext cx="22860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180742" y="3335300"/>
            <a:ext cx="1466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8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Hasnain Sheikh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8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Roll: </a:t>
            </a:r>
            <a:r>
              <a:rPr b="1" i="0" lang="en-US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BSSE-1408</a:t>
            </a:r>
            <a:r>
              <a:rPr b="1" i="0" lang="en-US" sz="13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540478" y="3335300"/>
            <a:ext cx="2061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8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Supervisor:</a:t>
            </a:r>
            <a:endParaRPr b="1">
              <a:solidFill>
                <a:srgbClr val="B0C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8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Dr. Mohammad Shoyaib</a:t>
            </a:r>
            <a:endParaRPr b="1">
              <a:solidFill>
                <a:srgbClr val="B0C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8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Professor, IIT</a:t>
            </a:r>
            <a:endParaRPr b="1">
              <a:solidFill>
                <a:srgbClr val="B0C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82880" y="9144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Motivation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82880" y="65836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00C9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Transfer Learning?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28600" y="1188720"/>
            <a:ext cx="2743200" cy="32918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28600" y="1188720"/>
            <a:ext cx="274320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65760" y="126187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Challenge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178308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</a:t>
            </a:r>
            <a:r>
              <a:rPr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models </a:t>
            </a:r>
            <a:r>
              <a:rPr lang="en-US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large amount of  </a:t>
            </a:r>
            <a:r>
              <a:rPr b="1" lang="en-US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labeled data</a:t>
            </a:r>
            <a:r>
              <a:rPr lang="en-US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specific to each domain; collecting label data is 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expensive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often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impractical</a:t>
            </a:r>
            <a:r>
              <a:rPr lang="en-US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For new project, it is even more severe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annotation scarcity, and the lack of sufficient labeled target-domain data.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154680" y="1188720"/>
            <a:ext cx="2743200" cy="32918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154680" y="1188720"/>
            <a:ext cx="274320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91840" y="126187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Solution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91840" y="178308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learning addresses the issue by </a:t>
            </a:r>
            <a:r>
              <a:rPr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</a:t>
            </a:r>
            <a:r>
              <a:rPr lang="en-US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ring</a:t>
            </a:r>
            <a:r>
              <a:rPr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knowledge from a source domain to a target domain,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dependence on domain-specific labeled data.</a:t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080760" y="1188720"/>
            <a:ext cx="2743200" cy="32918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080760" y="1188720"/>
            <a:ext cx="274320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217920" y="126187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217920" y="178308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unified framework for cross-domain transfer learning analysis, visualization, and evaluation across text</a:t>
            </a:r>
            <a:r>
              <a:rPr lang="en-US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</a:t>
            </a:r>
            <a:r>
              <a:rPr i="0" lang="en-US" sz="1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</a:t>
            </a:r>
            <a:r>
              <a:rPr lang="en-US" sz="1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datasets; capable of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performance in low-resource and cross-domain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scenarios.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82880" y="9144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Objectives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82880" y="65836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00C9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this framework aims to achieve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74320" y="1143000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274320" y="1143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77240" y="1097280"/>
            <a:ext cx="8138100" cy="50280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005840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unified pipeline for cross-domain learning experiments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74320" y="1892808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74320" y="18928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77240" y="1847088"/>
            <a:ext cx="81381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005840" y="1920240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</a:t>
            </a:r>
            <a:r>
              <a:rPr i="0" lang="en-US" sz="13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transfer learning methods 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74320" y="2642616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274320" y="26426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77240" y="2596896"/>
            <a:ext cx="8138160" cy="50292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1005840" y="267004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OCMTL+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transfer learning method developed by me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74320" y="3392424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74320" y="3392424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77240" y="3346704"/>
            <a:ext cx="81381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1005840" y="3419856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on text analysis (sentiment analysis), and image recognition</a:t>
            </a:r>
            <a:endParaRPr sz="13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74320" y="4142232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74320" y="4142232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77240" y="4096512"/>
            <a:ext cx="8138100" cy="50280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005840" y="4169664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an interactive dashboard system for experimentation and reporting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182880" y="9144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82880" y="65836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Consistent, configurable processing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300" y="1063465"/>
            <a:ext cx="7275941" cy="383286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82880" y="9144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Specifications</a:t>
            </a:r>
            <a:endParaRPr b="1"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82880" y="658368"/>
            <a:ext cx="868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00C9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Supported </a:t>
            </a:r>
            <a:r>
              <a:rPr lang="en-US" sz="1100">
                <a:solidFill>
                  <a:srgbClr val="00C9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languages, datasets, methods, formats, metrics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8" name="Google Shape;98;p7"/>
          <p:cNvGraphicFramePr/>
          <p:nvPr/>
        </p:nvGraphicFramePr>
        <p:xfrm>
          <a:off x="761813" y="141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{1BCE4313-89C2-4F62-8577-E2290BA4CC8B}</a:tableStyleId>
              </a:tblPr>
              <a:tblGrid>
                <a:gridCol w="2459525"/>
                <a:gridCol w="4779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Python, PyQt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COIL 20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MNIST, PIE, Office-caltech (Surf), Office-caltech (Decaf), Office-31 (Decaf), Reuters,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Amazon Review,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NASA, AEEEM, RELINK, SOFTLAB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Transfer Learning Methods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TCA, JDA, BDA, CORAL, OCMTL, DALI, JFK, JCSA, OCMTL+ (proposed method by me)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file format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.csv, .mat, .arff etc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 report format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PDF, CSV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evaluation metrics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Accuracy, AUC, F1-Score, Precision, Recall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0C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182880" y="9144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182880" y="658368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00C9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contributions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274320" y="1234440"/>
            <a:ext cx="41148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274320" y="1234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804672" y="1188720"/>
            <a:ext cx="8229600" cy="5486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1005840" y="1261872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i="0" lang="en-US" sz="13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unified, modular framework for cross-domain transfer learning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274320" y="1965960"/>
            <a:ext cx="411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274320" y="1965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804672" y="1920240"/>
            <a:ext cx="8229600" cy="5486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1005840" y="1993392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i="0" lang="en-US" sz="13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fair comparison, visualization, and analysis of 10 transfer learning methods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274320" y="269748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274320" y="2697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804672" y="2651760"/>
            <a:ext cx="8229600" cy="5486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1005840" y="2724912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i="0" lang="en-US" sz="13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understand when transfer learning improves or degrades performance (negative transfer detection)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274320" y="3429000"/>
            <a:ext cx="411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274320" y="3429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804672" y="3383280"/>
            <a:ext cx="8229600" cy="5486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1005840" y="3456432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i="0" lang="en-US" sz="13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Introduces OCMTL+, an enhanced proposed transfer learning method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274320" y="416052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274320" y="4160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804672" y="4114800"/>
            <a:ext cx="8229600" cy="5486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1005840" y="4187952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i="0" lang="en-US" sz="13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scalable</a:t>
            </a:r>
            <a:r>
              <a:rPr lang="en-US" sz="13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</a:t>
            </a:r>
            <a:r>
              <a:rPr lang="en-US" sz="13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xtensible</a:t>
            </a:r>
            <a:r>
              <a:rPr i="0" lang="en-US" sz="13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foundation for </a:t>
            </a:r>
            <a:r>
              <a:rPr lang="en-US" sz="13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transfer learning algorithms plug in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0" y="0"/>
            <a:ext cx="73200" cy="10059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182880" y="91440"/>
            <a:ext cx="8686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9"/>
          <p:cNvSpPr txBox="1"/>
          <p:nvPr/>
        </p:nvSpPr>
        <p:spPr>
          <a:xfrm>
            <a:off x="778400" y="1327850"/>
            <a:ext cx="7509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Pan, Sinno Jialin, et al. "Domain adaptation via transfer component analysis." </a:t>
            </a:r>
            <a:r>
              <a:rPr i="1"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IEEE transactions on neural networks</a:t>
            </a: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22.2 (2010): 199-210.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Long, Mingsheng, et al. "Transfer feature learning with joint distribution adaptation." </a:t>
            </a:r>
            <a:r>
              <a:rPr i="1"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Proceedings of the IEEE international conference on computer vision</a:t>
            </a: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 2013.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Wang, Jindong, et al. "Balanced distribution adaptation for transfer learning." </a:t>
            </a:r>
            <a:r>
              <a:rPr i="1"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2017 IEEE international conference on data mining (ICDM)</a:t>
            </a: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 IEEE, 2017.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Nahid, Shartaz Sajid, et al. "OCMTL: Transfer learning by orthogonal core-extraction of a matrix and its application in cross-project defect prediction." </a:t>
            </a:r>
            <a:r>
              <a:rPr i="1"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Alexandria Engineering Journal</a:t>
            </a: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133 (2025): 498-516.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Devika, A. K., et al. "Visual domain adaptation through locality information." </a:t>
            </a:r>
            <a:r>
              <a:rPr i="1" lang="en-US" sz="1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Engineering Applications of Artificial Intelligence</a:t>
            </a: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123 (2023): 106172.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Sun, Baochen, Jiashi Feng, and Kate Saenko. "Correlation alignment for unsupervised domain adaptation." </a:t>
            </a:r>
            <a:r>
              <a:rPr i="1"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Domain adaptation in computer vision applications</a:t>
            </a: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 Cham: Springer International Publishing, 2017. 153-171.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0C9A7">
              <a:alpha val="14901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3474720" y="2377440"/>
            <a:ext cx="219456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FC7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