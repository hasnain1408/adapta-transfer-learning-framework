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slide. Introduce the project: a modular desktop framework that unifies transfer learning and domain adaptation methods for cross-domain classification.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61e65fa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f61e65fa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application areas of transfer learning. Emphasise the common thread: each pairs a label-rich source domain with a label-scarce, differently distributed target domain. Software defect prediction is the application area most relevant to this project, since the OCMTL method the proposed OCMTL+ builds on was evaluated on cross-project defect prediction.</a:t>
            </a:r>
            <a:endParaRPr/>
          </a:p>
        </p:txBody>
      </p:sp>
      <p:sp>
        <p:nvSpPr>
          <p:cNvPr id="27" name="Google Shape;27;g3f61e65fa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problems with the current state: annotation scarcity, distribution shift, undetected negative transfer, and fragmented implementations.</a:t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motivations plus the teaching angle. Emphasise that no single method dominates, so fair comparison infrastructure is itself the contribution.</a:t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7f3743b9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97f3743b9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 slide. The highlighted pipeline step is the core research contribution area — the interchangeable adaptation layer.</a:t>
            </a:r>
            <a:endParaRPr/>
          </a:p>
        </p:txBody>
      </p:sp>
      <p:sp>
        <p:nvSpPr>
          <p:cNvPr id="110" name="Google Shape;110;g3f97f3743b9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Eleven normal requirements — the baseline functional core of the framework.</a:t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 expected requirements — these separate a usable research tool from a bare script runner.</a:t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exciting requirements. The method recommendation and negative transfer advisory are the clearest differentiators from existing tooling.</a:t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 in context: the diagram shows the seven functional modules of the framework and the actors that interact with them.</a:t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entities. User performs many Experiments; an Experiment uses Datasets and produces exactly one Evaluation.</a:t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 classes. Each collaborates through defined interfaces so that adding a new adaptation method touches only the registry and the method itself.</a:t>
            </a:r>
            <a:endParaRPr/>
          </a:p>
        </p:txBody>
      </p:sp>
      <p:sp>
        <p:nvSpPr>
          <p:cNvPr id="234" name="Google Shape;2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framework sits between three categories of user above and three supporting systems below.</a:t>
            </a:r>
            <a:endParaRPr/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layers. Modularity means adding a new adaptation method requires no change outside the Domain Logic layer.</a:t>
            </a:r>
            <a:endParaRPr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 components. The Method Registry plus ITransferMethod interface is the single extension point of the system.</a:t>
            </a:r>
            <a:endParaRPr/>
          </a:p>
        </p:txBody>
      </p:sp>
      <p:sp>
        <p:nvSpPr>
          <p:cNvPr id="301" name="Google Shape;3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Nine testing objectives spanning data handling, numerical correctness, protocol integrity, and reproducibility.</a:t>
            </a:r>
            <a:endParaRPr/>
          </a:p>
        </p:txBody>
      </p:sp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representative test cases drawn from the full set of twelve in the technical report.</a:t>
            </a:r>
            <a:endParaRPr/>
          </a:p>
        </p:txBody>
      </p:sp>
      <p:sp>
        <p:nvSpPr>
          <p:cNvPr id="331" name="Google Shape;3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Adjust these three columns to reflect actual progress before presenting.</a:t>
            </a:r>
            <a:endParaRPr/>
          </a:p>
        </p:txBody>
      </p:sp>
      <p:sp>
        <p:nvSpPr>
          <p:cNvPr id="341" name="Google Shape;3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Replace each placeholder with a screenshot of the running application.</a:t>
            </a:r>
            <a:endParaRPr/>
          </a:p>
        </p:txBody>
      </p:sp>
      <p:sp>
        <p:nvSpPr>
          <p:cNvPr id="358" name="Google Shape;35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1a183b66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f61a183b6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Replace each placeholder with a screenshot of the running application.</a:t>
            </a:r>
            <a:endParaRPr/>
          </a:p>
        </p:txBody>
      </p:sp>
      <p:sp>
        <p:nvSpPr>
          <p:cNvPr id="369" name="Google Shape;369;g3f61a183b6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Suggested: show the abstract TransferMethod interface alongside a concrete method such as BDA, to demonstrate the extension point.</a:t>
            </a:r>
            <a:endParaRPr/>
          </a:p>
        </p:txBody>
      </p:sp>
      <p:sp>
        <p:nvSpPr>
          <p:cNvPr id="376" name="Google Shape;3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</a:t>
            </a:r>
            <a:endParaRPr/>
          </a:p>
        </p:txBody>
      </p:sp>
      <p:sp>
        <p:nvSpPr>
          <p:cNvPr id="386" name="Google Shape;3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4D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FD4D2"/>
                </a:solidFill>
                <a:latin typeface="Calibri"/>
                <a:ea typeface="Calibri"/>
                <a:cs typeface="Calibri"/>
                <a:sym typeface="Calibri"/>
              </a:rPr>
              <a:t>SE 801  ·  SOFTWARE PROJECT LAB III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828800"/>
            <a:ext cx="7223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Adapta: A </a:t>
            </a: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General Purpose Transfer Learning Framework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310128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C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A9C3DC"/>
                </a:solidFill>
                <a:latin typeface="Cambria"/>
                <a:ea typeface="Cambria"/>
                <a:cs typeface="Cambria"/>
                <a:sym typeface="Cambria"/>
              </a:rPr>
              <a:t>for Cross-Domain Classification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4805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8FA6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6BE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br>
              <a:rPr b="0" i="0" lang="en-US" sz="1100" u="none" cap="none" strike="noStrike">
                <a:solidFill>
                  <a:srgbClr val="8FA6B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Hasnain Sheikh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A9C3D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9C3DC"/>
                </a:solidFill>
                <a:latin typeface="Calibri"/>
                <a:ea typeface="Calibri"/>
                <a:cs typeface="Calibri"/>
                <a:sym typeface="Calibri"/>
              </a:rPr>
              <a:t>BSSE-1408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0" y="448056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8FA6B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6BE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br>
              <a:rPr b="0" i="0" lang="en-US" sz="1100" u="none" cap="none" strike="noStrike">
                <a:solidFill>
                  <a:srgbClr val="8FA6B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Mohammad Shoyaib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A9C3D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9C3DC"/>
                </a:solidFill>
                <a:latin typeface="Calibri"/>
                <a:ea typeface="Calibri"/>
                <a:cs typeface="Calibri"/>
                <a:sym typeface="Calibri"/>
              </a:rPr>
              <a:t>Professor, IIT, University of Dhaka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384048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WHY TRANSFER LEARNING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Applications of Transfer Learning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50" y="1321825"/>
            <a:ext cx="5358300" cy="1647900"/>
          </a:xfrm>
          <a:prstGeom prst="roundRect">
            <a:avLst>
              <a:gd fmla="val 4425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2973" y="1398353"/>
            <a:ext cx="384000" cy="384000"/>
          </a:xfrm>
          <a:prstGeom prst="ellipse">
            <a:avLst/>
          </a:prstGeom>
          <a:solidFill>
            <a:srgbClr val="0E9594"/>
          </a:solidFill>
          <a:ln cap="flat" cmpd="sng" w="12700">
            <a:solidFill>
              <a:srgbClr val="0E9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22973" y="1398353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353325" y="1398353"/>
            <a:ext cx="427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Object Recognition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04685" y="1892129"/>
            <a:ext cx="2103000" cy="402300"/>
          </a:xfrm>
          <a:prstGeom prst="roundRect">
            <a:avLst>
              <a:gd fmla="val 15909" name="adj"/>
            </a:avLst>
          </a:prstGeom>
          <a:solidFill>
            <a:srgbClr val="FFFFFF"/>
          </a:solidFill>
          <a:ln cap="flat" cmpd="sng" w="13950">
            <a:solidFill>
              <a:srgbClr val="0E9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96125" y="1892129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Trained on: car images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926093" y="1892129"/>
            <a:ext cx="32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73565" y="1892129"/>
            <a:ext cx="2103000" cy="402300"/>
          </a:xfrm>
          <a:prstGeom prst="roundRect">
            <a:avLst>
              <a:gd fmla="val 15909" name="adj"/>
            </a:avLst>
          </a:prstGeom>
          <a:solidFill>
            <a:srgbClr val="FFFFFF"/>
          </a:solidFill>
          <a:ln cap="flat" cmpd="sng" w="13950">
            <a:solidFill>
              <a:srgbClr val="0E9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365005" y="1892129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Applied to: trucks &amp; buses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04685" y="2385905"/>
            <a:ext cx="48462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A recognizer trained on cars already encodes wheels, windows, headlights, and body contours. Those features transfer to trucks and buses, so a new vehicle class needs no full labeled dataset of its own.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50" y="3101812"/>
            <a:ext cx="5358300" cy="1647900"/>
          </a:xfrm>
          <a:prstGeom prst="roundRect">
            <a:avLst>
              <a:gd fmla="val 4425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22960" y="3165377"/>
            <a:ext cx="384000" cy="384000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22960" y="3165377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353312" y="3165377"/>
            <a:ext cx="427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04672" y="3659153"/>
            <a:ext cx="2103000" cy="402300"/>
          </a:xfrm>
          <a:prstGeom prst="roundRect">
            <a:avLst>
              <a:gd fmla="val 15909" name="adj"/>
            </a:avLst>
          </a:prstGeom>
          <a:solidFill>
            <a:srgbClr val="FFFFFF"/>
          </a:solidFill>
          <a:ln cap="flat" cmpd="sng" w="1395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96112" y="3659153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Trained on: book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926080" y="3659153"/>
            <a:ext cx="32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73552" y="3659153"/>
            <a:ext cx="2103000" cy="402300"/>
          </a:xfrm>
          <a:prstGeom prst="roundRect">
            <a:avLst>
              <a:gd fmla="val 15909" name="adj"/>
            </a:avLst>
          </a:prstGeom>
          <a:solidFill>
            <a:srgbClr val="FFFFFF"/>
          </a:solidFill>
          <a:ln cap="flat" cmpd="sng" w="1395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364992" y="3659153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Applied to: </a:t>
            </a:r>
            <a:r>
              <a:rPr b="1" lang="en-US" sz="1050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food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41822" y="4171237"/>
            <a:ext cx="4846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Cues such as "disappointing" or "worth every penny" carry across product categories, even though the vocabulary differs — plot and characters versus blender and warranty. Adaptation aligns the shared sentiment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50" y="4881780"/>
            <a:ext cx="5358300" cy="1674900"/>
          </a:xfrm>
          <a:prstGeom prst="roundRect">
            <a:avLst>
              <a:gd fmla="val 4425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22970" y="5044836"/>
            <a:ext cx="384000" cy="31110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22970" y="5044836"/>
            <a:ext cx="384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353322" y="5044836"/>
            <a:ext cx="4279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Software Defect Prediction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04682" y="5445065"/>
            <a:ext cx="2103000" cy="326100"/>
          </a:xfrm>
          <a:prstGeom prst="roundRect">
            <a:avLst>
              <a:gd fmla="val 15909" name="adj"/>
            </a:avLst>
          </a:prstGeom>
          <a:solidFill>
            <a:srgbClr val="FFFFFF"/>
          </a:solidFill>
          <a:ln cap="flat" cmpd="sng" w="1395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96122" y="5445065"/>
            <a:ext cx="1920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Trained on: </a:t>
            </a:r>
            <a:r>
              <a:rPr b="1" lang="en-US" sz="105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firefox</a:t>
            </a:r>
            <a:r>
              <a:rPr b="1" i="0" lang="en-US" sz="105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 defect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926090" y="5445065"/>
            <a:ext cx="3291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273562" y="5445065"/>
            <a:ext cx="2103000" cy="326100"/>
          </a:xfrm>
          <a:prstGeom prst="roundRect">
            <a:avLst>
              <a:gd fmla="val 15909" name="adj"/>
            </a:avLst>
          </a:prstGeom>
          <a:solidFill>
            <a:srgbClr val="FFFFFF"/>
          </a:solidFill>
          <a:ln cap="flat" cmpd="sng" w="1395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365002" y="5445065"/>
            <a:ext cx="1920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Applied to: </a:t>
            </a:r>
            <a:r>
              <a:rPr b="1" lang="en-US" sz="105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predict chrome browser defect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04682" y="5845294"/>
            <a:ext cx="48462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A new project has no defect history to learn from. Cross-project defect prediction transfers a model built on a mature project’s labeled code metrics to flag defect-prone modules in the new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0" y="1321825"/>
            <a:ext cx="4762500" cy="16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8375" y="3429317"/>
            <a:ext cx="2328225" cy="16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2850" y="3399088"/>
            <a:ext cx="2884350" cy="17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What is wrong with how this is done today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04672" y="1847088"/>
            <a:ext cx="384048" cy="384048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04672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335024" y="18288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Labeled data is scarce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335024" y="237744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upervised</a:t>
            </a: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 learning needs annotated data that is costly, slow, and sometimes impossible to obtain for a new domain.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04685" y="3378700"/>
            <a:ext cx="384000" cy="384000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04685" y="3378663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335037" y="3360413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Source and Target from different class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335037" y="3909053"/>
            <a:ext cx="4297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Training and test data are assumed to share one distribution. In practice they rarely do, and accuracy drops sharply.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421137" y="4891918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Implementations are scattered and incompatible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421137" y="5440558"/>
            <a:ext cx="4297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Reference code is split across MATLAB and Python with different input formats, interfaces, and reported metrics.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04710" y="4910276"/>
            <a:ext cx="384000" cy="384000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14860" y="4910263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Why this framework needs to exist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22960" y="2560320"/>
            <a:ext cx="475488" cy="475488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22960" y="256032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22960" y="3182112"/>
            <a:ext cx="2990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Reuse instead of re-annotate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22960" y="3840480"/>
            <a:ext cx="29900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Transfer knowledge from a label-rich source domain so a usable model can be built without fully annotating the target.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99432" y="2560320"/>
            <a:ext cx="475488" cy="475488"/>
          </a:xfrm>
          <a:prstGeom prst="ellipse">
            <a:avLst/>
          </a:prstGeom>
          <a:solidFill>
            <a:srgbClr val="0E9594"/>
          </a:solidFill>
          <a:ln cap="flat" cmpd="sng" w="12700">
            <a:solidFill>
              <a:srgbClr val="0E9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99432" y="256032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99432" y="3182112"/>
            <a:ext cx="2990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One protocol, fair comparison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99432" y="3840480"/>
            <a:ext cx="29900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Every method runs on the same data, preprocessing, and metric suite — so differences reflect the method, not the setup.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375904" y="2560320"/>
            <a:ext cx="475488" cy="475488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375904" y="25603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375904" y="3182112"/>
            <a:ext cx="29900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Know before you transfer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375904" y="3840480"/>
            <a:ext cx="29900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Domain similarity and MMD are measured up front, and negative transfer is flagged against a no-transfer baseline.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14400" y="507492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Beyond research, the framework is a teaching instrument.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14400" y="5413248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A student / researcher can observe distribution shift, apply an adaptation method, and watch the two domain clouds move together — without first implementing any of the underlying mathematics.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548640" y="384048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OVERVIEW OF THE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 modular desktop framework for cross-domain classification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68675" y="2116850"/>
            <a:ext cx="50226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30850" y="1810502"/>
            <a:ext cx="6227100" cy="4499100"/>
          </a:xfrm>
          <a:prstGeom prst="rect">
            <a:avLst/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07555" y="5280828"/>
            <a:ext cx="566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Built with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07555" y="5555030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Python  ·  PyQt  ·  scikit-learn  ·  NumPy  ·  pandas  ·  Matplotlib  ·  Git &amp; GitHub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07555" y="2162583"/>
            <a:ext cx="5669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D99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Methods: TCA · JDA · BDA · CORAL · GFK · JCSA · DALI · OCMTL · proposed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178040" y="1627632"/>
            <a:ext cx="4462200" cy="4681800"/>
          </a:xfrm>
          <a:prstGeom prst="roundRect">
            <a:avLst>
              <a:gd fmla="val 2049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498080" y="1810512"/>
            <a:ext cx="382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Experiment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498080" y="2240280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B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616952" y="2240280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955280" y="2240280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Load &amp; validate datasets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498080" y="2798064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B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616952" y="2798064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955280" y="2798064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Assign source / target domains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498080" y="3355848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B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7616952" y="3355848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955280" y="3355848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Preprocess both domains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498080" y="3913632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22225">
            <a:solidFill>
              <a:srgbClr val="0E9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616952" y="3913632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955280" y="3913632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Apply transfer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498080" y="4471416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B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616952" y="4471416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955280" y="4471416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Train baseline classifier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498080" y="5029200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B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616952" y="5029200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955280" y="5029200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Evaluate on target domain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498080" y="5586984"/>
            <a:ext cx="3822300" cy="4389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DB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616952" y="5586984"/>
            <a:ext cx="32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955280" y="5586984"/>
            <a:ext cx="331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Visualize &amp; export results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07550" y="2932999"/>
            <a:ext cx="56694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500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Dataset Used:</a:t>
            </a:r>
            <a:endParaRPr i="1" sz="1500">
              <a:solidFill>
                <a:srgbClr val="1C5D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5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Image Classification:</a:t>
            </a:r>
            <a:r>
              <a:rPr i="1" lang="en-US" sz="1500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  COIL 20,  MNIST,  PIE,  Office-caltech (Surf),  Office-caltech (Decaf), Office-31 (Decaf) </a:t>
            </a:r>
            <a:endParaRPr i="1" sz="1500">
              <a:solidFill>
                <a:srgbClr val="1C5D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5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Sentiment Analysis: </a:t>
            </a:r>
            <a:r>
              <a:rPr i="1" lang="en-US" sz="1500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 Reuters,  20-Newsgroups,  Amazon_reviews</a:t>
            </a:r>
            <a:endParaRPr i="1" sz="1500">
              <a:solidFill>
                <a:srgbClr val="1C5D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5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Software Defect Prediction:</a:t>
            </a:r>
            <a:r>
              <a:rPr i="1" lang="en-US" sz="1500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  NASA,  AEEEM, RELINK, SOFTLAB </a:t>
            </a:r>
            <a:endParaRPr i="1" sz="1500">
              <a:solidFill>
                <a:srgbClr val="1C5D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QUALITY FUNCTION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Normal Requirements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1282050" y="1495725"/>
            <a:ext cx="7183500" cy="3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Import: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Load datasets in </a:t>
            </a:r>
            <a:r>
              <a:rPr lang="en-US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.csv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.mat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.arff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Validation: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Validate features, labels, and data quality.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Inspection: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Display dataset statistics and properties.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Assignment: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 source and target datasets.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Apply normalization,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standardization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both domains.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Method Selection: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 a transfer learning method.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Configuration: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Configure method-specific parameters.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Training: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 the selected classifier.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 using standard classification metrics.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Display: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Display results in tabular format.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QUALITY FUNCTION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Expected Requirements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292225" y="1476475"/>
            <a:ext cx="67053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Export: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Export results as PDF and CSV.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Space Visualization: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Visualize domains with PCA and t-SNE.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Dashboard: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Display recent experiments and metrics.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multiple transfer learning methods.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Feedback: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 experiment execution progress.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Persistence: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and reload experiment configurations.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MMD Computation: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 MMD before and after adaptation.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Handling: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Report clear errors for invalid inputs.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QUALITY FUNCTION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Exciting Requirements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2057400"/>
            <a:ext cx="3538800" cy="1965900"/>
          </a:xfrm>
          <a:prstGeom prst="roundRect">
            <a:avLst>
              <a:gd fmla="val 4651" name="adj"/>
            </a:avLst>
          </a:prstGeom>
          <a:solidFill>
            <a:srgbClr val="FDF7E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841248" y="2331720"/>
            <a:ext cx="310896" cy="310896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841248" y="2770632"/>
            <a:ext cx="2953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Transfer method recommendation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41248" y="3300984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Rank the available methods by expected suitability for a given domain pair, using similarity, dimensionality and past outcomes.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325112" y="2057400"/>
            <a:ext cx="3538728" cy="1965960"/>
          </a:xfrm>
          <a:prstGeom prst="roundRect">
            <a:avLst>
              <a:gd fmla="val 4651" name="adj"/>
            </a:avLst>
          </a:prstGeom>
          <a:solidFill>
            <a:srgbClr val="FDF7E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617720" y="2331720"/>
            <a:ext cx="310896" cy="310896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4617720" y="2770632"/>
            <a:ext cx="2953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Automated hyperparameter search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617720" y="3300984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Search a user-defined grid for the selected method and report the best-performing configuration.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101584" y="2057400"/>
            <a:ext cx="3538728" cy="1965960"/>
          </a:xfrm>
          <a:prstGeom prst="roundRect">
            <a:avLst>
              <a:gd fmla="val 4651" name="adj"/>
            </a:avLst>
          </a:prstGeom>
          <a:solidFill>
            <a:srgbClr val="FDF7E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8394192" y="2331720"/>
            <a:ext cx="310896" cy="310896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8394192" y="2770632"/>
            <a:ext cx="2953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Domain similarity scoring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8394192" y="3300984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Combine MMD, distribution overlap and class-conditional divergence into a pre-experiment advisory score.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48640" y="4279392"/>
            <a:ext cx="3538728" cy="1965960"/>
          </a:xfrm>
          <a:prstGeom prst="roundRect">
            <a:avLst>
              <a:gd fmla="val 4651" name="adj"/>
            </a:avLst>
          </a:prstGeom>
          <a:solidFill>
            <a:srgbClr val="FDF7E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841248" y="4553712"/>
            <a:ext cx="310896" cy="310896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41248" y="4992624"/>
            <a:ext cx="2953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Interactive alignment visualization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41248" y="552297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Inspect individual points and toggle source and target subsets in a live scatter plot.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325112" y="4279392"/>
            <a:ext cx="3538728" cy="1965960"/>
          </a:xfrm>
          <a:prstGeom prst="roundRect">
            <a:avLst>
              <a:gd fmla="val 4651" name="adj"/>
            </a:avLst>
          </a:prstGeom>
          <a:solidFill>
            <a:srgbClr val="FDF7E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617720" y="4553712"/>
            <a:ext cx="310896" cy="310896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617720" y="4992624"/>
            <a:ext cx="2953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Batch experiment execution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617720" y="552297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Evaluate every method over every domain pair of a dataset family to produce a full comparison matrix.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101584" y="4279392"/>
            <a:ext cx="3538728" cy="1965960"/>
          </a:xfrm>
          <a:prstGeom prst="roundRect">
            <a:avLst>
              <a:gd fmla="val 4651" name="adj"/>
            </a:avLst>
          </a:prstGeom>
          <a:solidFill>
            <a:srgbClr val="FDF7E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8394192" y="4553712"/>
            <a:ext cx="310896" cy="310896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8394192" y="4992624"/>
            <a:ext cx="2953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Adaptation interpretability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8394192" y="552297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Report the contribution of individual feature dimensions to the alignment achieved.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SCENARIO-BASED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Use Case Diagra</a:t>
            </a:r>
            <a:r>
              <a:rPr b="1" lang="en-US" sz="3400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22960" y="17373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Actors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22960" y="2066544"/>
            <a:ext cx="3246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C5D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br>
              <a:rPr b="1" i="0" lang="en-US" sz="11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Researcher ·</a:t>
            </a: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ML Engineer </a:t>
            </a: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 Student</a:t>
            </a:r>
            <a:r>
              <a:rPr lang="en-US" sz="1250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 · System</a:t>
            </a:r>
            <a:b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Secondary</a:t>
            </a:r>
            <a:br>
              <a:rPr b="1" i="0" lang="en-US" sz="11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Admin </a:t>
            </a: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· Email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22960" y="398678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Modules (Level 1 use cases)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22960" y="4315968"/>
            <a:ext cx="3246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Upload Datasets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Data Preprocessing &amp; TL Method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Target Level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Detailed Result Display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Report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Store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825" y="1469250"/>
            <a:ext cx="5895900" cy="48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6634150" y="6309350"/>
            <a:ext cx="35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1000"/>
              </a:spcAft>
              <a:buNone/>
            </a:pPr>
            <a:r>
              <a:rPr i="1" lang="en-US" sz="12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Level 1 use case diagram of  Adapta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DATA &amp; INFORMATION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Entity Relationship Diagram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8640" y="157276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Data objects identified for the framework: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04672" y="2212848"/>
            <a:ext cx="128016" cy="128016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042416" y="2103120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042416" y="2414016"/>
            <a:ext cx="30449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id, name, email, 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04672" y="3255264"/>
            <a:ext cx="128016" cy="128016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042416" y="3145536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042416" y="3456432"/>
            <a:ext cx="304495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id, user_id, source &amp; target domain, tl_algorithm, classifier, normalization, date, status, hyperparameters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04672" y="4700016"/>
            <a:ext cx="128016" cy="128016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1042416" y="459028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042416" y="4901184"/>
            <a:ext cx="30449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id, name, format, samples, features, feature &amp; label names,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04672" y="5961888"/>
            <a:ext cx="128016" cy="128016"/>
          </a:xfrm>
          <a:prstGeom prst="ellipse">
            <a:avLst/>
          </a:pr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042416" y="5852160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042416" y="6163056"/>
            <a:ext cx="30449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id, experiment_id, accuracy, precision, recall, 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6851700" y="6339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1000"/>
              </a:spcAft>
              <a:buNone/>
            </a:pPr>
            <a:r>
              <a:rPr i="1" lang="en-US" sz="12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Entity Relation Diagram of Adapta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4000" y="1424275"/>
            <a:ext cx="6982626" cy="47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CLASS-BASED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Class Responsibility &amp; Collaboration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48640" y="157276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The identified analysis classes: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48640" y="1975104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804672" y="1975104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DatasetManager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548640" y="2459736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804672" y="2459736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PreprocessingEngine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48640" y="2944368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804672" y="2944368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TransferMethod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48640" y="3429000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804672" y="3429000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TransferMethodRegistry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48640" y="3913632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804672" y="3913632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ClassifierTrainer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48640" y="4398264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804672" y="4398264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EvaluationEngine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548640" y="4882896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804672" y="4882896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VisualizationEngine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48640" y="5367528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DF1E2"/>
          </a:solidFill>
          <a:ln cap="flat" cmpd="sng" w="203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804672" y="5367528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E1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4E12"/>
                </a:solidFill>
                <a:latin typeface="Calibri"/>
                <a:ea typeface="Calibri"/>
                <a:cs typeface="Calibri"/>
                <a:sym typeface="Calibri"/>
              </a:rPr>
              <a:t>ExperimentManager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48640" y="5852160"/>
            <a:ext cx="3794760" cy="402336"/>
          </a:xfrm>
          <a:prstGeom prst="roundRect">
            <a:avLst>
              <a:gd fmla="val 15909" name="adj"/>
            </a:avLst>
          </a:prstGeom>
          <a:solidFill>
            <a:srgbClr val="F7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804672" y="5852160"/>
            <a:ext cx="3337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ReportExporter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48640" y="6364224"/>
            <a:ext cx="379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AA9B8"/>
                </a:solidFill>
                <a:latin typeface="Calibri"/>
                <a:ea typeface="Calibri"/>
                <a:cs typeface="Calibri"/>
                <a:sym typeface="Calibri"/>
              </a:rPr>
              <a:t>ExperimentManager is the pipeline orchestrator</a:t>
            </a:r>
            <a:endParaRPr b="0" i="0" sz="1050" u="none" cap="none" strike="noStrike">
              <a:solidFill>
                <a:srgbClr val="9AA9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175" y="1975100"/>
            <a:ext cx="7102426" cy="438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6613800" y="6364225"/>
            <a:ext cx="46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i="1" lang="en-US" sz="12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Class responsibility and collaboration (CRC) diagram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SOFTWARE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Architectural Context Diagram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822960" y="17830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External </a:t>
            </a: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822960" y="2139696"/>
            <a:ext cx="3246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Researcher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3E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Student / General people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822960" y="40233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r>
              <a:rPr b="1" i="0" lang="en-US" sz="13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 &amp; peer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822960" y="4370832"/>
            <a:ext cx="3246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Local File System — dataset files, saved configurations, exported reports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D3E50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ML Library</a:t>
            </a:r>
            <a:r>
              <a:rPr b="0" i="0" lang="en-US" sz="11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— NumPy, SciPy, scikit-learn, Matplotlib, Seaborn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D3E5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D3E50"/>
                </a:solidFill>
                <a:latin typeface="Calibri"/>
                <a:ea typeface="Calibri"/>
                <a:cs typeface="Calibri"/>
                <a:sym typeface="Calibri"/>
              </a:rPr>
              <a:t>External Dataset Repositories — benchmark dataset sources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083" y="2057400"/>
            <a:ext cx="7011216" cy="40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4"/>
          <p:cNvSpPr txBox="1"/>
          <p:nvPr/>
        </p:nvSpPr>
        <p:spPr>
          <a:xfrm>
            <a:off x="7387100" y="60745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1000"/>
              </a:spcAft>
              <a:buNone/>
            </a:pPr>
            <a:r>
              <a:rPr i="1" lang="en-US" sz="120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Architectural context diagram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SOFTWARE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Archetypes — Layered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48640" y="148132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A four-layer pattern with clear separation of concerns. Each layer interacts with adjacent layers through well-defined interfaces.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48640" y="2029968"/>
            <a:ext cx="5120640" cy="896112"/>
          </a:xfrm>
          <a:prstGeom prst="roundRect">
            <a:avLst>
              <a:gd fmla="val 8163" name="adj"/>
            </a:avLst>
          </a:prstGeom>
          <a:solidFill>
            <a:srgbClr val="E8F0F8"/>
          </a:solidFill>
          <a:ln cap="flat" cmpd="sng" w="15225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822960" y="2029968"/>
            <a:ext cx="1920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D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5D99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2788920" y="2084832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User Interface · Configuration Forms · Progress 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48640" y="3090672"/>
            <a:ext cx="5120640" cy="896112"/>
          </a:xfrm>
          <a:prstGeom prst="roundRect">
            <a:avLst>
              <a:gd fmla="val 8163" name="adj"/>
            </a:avLst>
          </a:prstGeom>
          <a:solidFill>
            <a:srgbClr val="E6F4F1"/>
          </a:solidFill>
          <a:ln cap="flat" cmpd="sng" w="15225">
            <a:solidFill>
              <a:srgbClr val="0E9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822960" y="3090672"/>
            <a:ext cx="1920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Application Logic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2788920" y="3145536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Experiment Orchestrator · Method Registry · Execution Engine · Configuration Validator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48640" y="4151376"/>
            <a:ext cx="5120640" cy="896112"/>
          </a:xfrm>
          <a:prstGeom prst="roundRect">
            <a:avLst>
              <a:gd fmla="val 8163" name="adj"/>
            </a:avLst>
          </a:prstGeom>
          <a:solidFill>
            <a:srgbClr val="FDF3E7"/>
          </a:solidFill>
          <a:ln cap="flat" cmpd="sng" w="15225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822960" y="4151376"/>
            <a:ext cx="1920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Domain Logic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2788920" y="4206240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Data Management · Preprocessing · Domain Adaptation · Learning · Evaluation · Visualization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48640" y="5212080"/>
            <a:ext cx="5120640" cy="896112"/>
          </a:xfrm>
          <a:prstGeom prst="roundRect">
            <a:avLst>
              <a:gd fmla="val 8163" name="adj"/>
            </a:avLst>
          </a:prstGeom>
          <a:solidFill>
            <a:srgbClr val="F6EDEC"/>
          </a:solidFill>
          <a:ln cap="flat" cmpd="sng" w="15225">
            <a:solidFill>
              <a:srgbClr val="B04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822960" y="5212080"/>
            <a:ext cx="1920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A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04A3F"/>
                </a:solidFill>
                <a:latin typeface="Calibri"/>
                <a:ea typeface="Calibri"/>
                <a:cs typeface="Calibri"/>
                <a:sym typeface="Calibri"/>
              </a:rPr>
              <a:t>Persistence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2788920" y="5266944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4F62"/>
                </a:solidFill>
                <a:latin typeface="Calibri"/>
                <a:ea typeface="Calibri"/>
                <a:cs typeface="Calibri"/>
                <a:sym typeface="Calibri"/>
              </a:rPr>
              <a:t>Configuration Store · Result Cache · Export Writer · File Adapters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5989320" y="2029968"/>
            <a:ext cx="5650992" cy="4114800"/>
          </a:xfrm>
          <a:prstGeom prst="roundRect">
            <a:avLst>
              <a:gd fmla="val 1778" name="adj"/>
            </a:avLst>
          </a:prstGeom>
          <a:solidFill>
            <a:srgbClr val="FBFCFD"/>
          </a:solidFill>
          <a:ln cap="flat" cmpd="sng" w="19050">
            <a:solidFill>
              <a:srgbClr val="A8B6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6172200" y="3767328"/>
            <a:ext cx="52852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A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A9AAC"/>
                </a:solidFill>
                <a:latin typeface="Calibri"/>
                <a:ea typeface="Calibri"/>
                <a:cs typeface="Calibri"/>
                <a:sym typeface="Calibri"/>
              </a:rPr>
              <a:t>Paste the Archetypes Diagram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SOFTWARE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Top-Level Components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48640" y="1554480"/>
            <a:ext cx="3794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Each component exposes one interface, so dependencies run one way — from presentation towards domain logic.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548640" y="221284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UI Component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IUserInteraction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548640" y="262432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Experiment Manager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IExperimentControl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548640" y="303580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Dataset Manager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IDatasetAccess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548640" y="344728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Preprocessing Engine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48640" y="385876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Method Registry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IMethodCatalogue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548640" y="427024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Transfer Method Impl.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ITransferMethod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548640" y="468172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Classifier Trainer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IModelTraining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548640" y="509320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Evaluation Engine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548640" y="550468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Visualization Engine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548640" y="5916168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Report Exporter</a:t>
            </a:r>
            <a:r>
              <a:rPr b="0" i="1" lang="en-US" sz="105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   IExport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4617720" y="1554480"/>
            <a:ext cx="7022592" cy="4754880"/>
          </a:xfrm>
          <a:prstGeom prst="roundRect">
            <a:avLst>
              <a:gd fmla="val 1538" name="adj"/>
            </a:avLst>
          </a:prstGeom>
          <a:solidFill>
            <a:srgbClr val="FBFCFD"/>
          </a:solidFill>
          <a:ln cap="flat" cmpd="sng" w="19050">
            <a:solidFill>
              <a:srgbClr val="A8B6C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4800600" y="3611880"/>
            <a:ext cx="6656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AA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A9AAC"/>
                </a:solidFill>
                <a:latin typeface="Calibri"/>
                <a:ea typeface="Calibri"/>
                <a:cs typeface="Calibri"/>
                <a:sym typeface="Calibri"/>
              </a:rPr>
              <a:t>Paste the Top-Level Component Diagram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PRELIMINARY TEST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Testing Objectives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925925" y="1566950"/>
            <a:ext cx="81504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correct parsing of all supported dataset formats and accurate metadata extraction.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proper handling of invalid datasets and input errors.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 the correct application of preprocessing techniques.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correctness of the implemented transfer learning methods.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the computation of evaluation metrics, including Accuracy, Precision, Recall, F1-score.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accurate generation of visualizations and result displays.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experiment reproducibility using saved configurations.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 successful generation of PDF and CSV reports.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system responsiveness during long-running experiments.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 system performance on large-scale datasets.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27" name="Google Shape;327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PRELIMINARY TEST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Example Test Cases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850" y="1282893"/>
            <a:ext cx="755332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875" y="4055550"/>
            <a:ext cx="7499274" cy="24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CURRENT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Work Progress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841248" y="1865376"/>
            <a:ext cx="256032" cy="256032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1207008" y="1792224"/>
            <a:ext cx="2624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841248" y="2560320"/>
            <a:ext cx="295351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analysis &amp; SRS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and activity modeling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and CRC modeling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design &amp; archetypes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management and validation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module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methods: TCA, JDA, BDA, CORAL</a:t>
            </a:r>
            <a:endParaRPr i="0" sz="1300" u="none" cap="none" strike="noStrike">
              <a:solidFill>
                <a:srgbClr val="2D3E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export (PDF)</a:t>
            </a:r>
            <a:endParaRPr sz="1300">
              <a:solidFill>
                <a:srgbClr val="2D3E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 sz="1300">
              <a:solidFill>
                <a:srgbClr val="2D3E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4617720" y="1865376"/>
            <a:ext cx="256032" cy="256032"/>
          </a:xfrm>
          <a:prstGeom prst="ellipse">
            <a:avLst/>
          </a:prstGeom>
          <a:solidFill>
            <a:srgbClr val="D98324"/>
          </a:solidFill>
          <a:ln cap="flat" cmpd="sng" w="12700">
            <a:solidFill>
              <a:srgbClr val="D98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4983480" y="1792224"/>
            <a:ext cx="2624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98324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4617720" y="2560320"/>
            <a:ext cx="295351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methods: GFK, JCSA, DALI, OCMTL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module and metric suite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module (PCA / t-SNE)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PyQt user interface integration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8394192" y="1865376"/>
            <a:ext cx="256032" cy="256032"/>
          </a:xfrm>
          <a:prstGeom prst="ellipse">
            <a:avLst/>
          </a:prstGeom>
          <a:solidFill>
            <a:srgbClr val="B04A3F"/>
          </a:solidFill>
          <a:ln cap="flat" cmpd="sng" w="12700">
            <a:solidFill>
              <a:srgbClr val="B04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9"/>
          <p:cNvSpPr/>
          <p:nvPr/>
        </p:nvSpPr>
        <p:spPr>
          <a:xfrm>
            <a:off x="8759952" y="1792224"/>
            <a:ext cx="2624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A3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04A3F"/>
                </a:solidFill>
                <a:latin typeface="Calibri"/>
                <a:ea typeface="Calibri"/>
                <a:cs typeface="Calibri"/>
                <a:sym typeface="Calibri"/>
              </a:rPr>
              <a:t>Incomplete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8394192" y="2560320"/>
            <a:ext cx="295351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transfer detectio</a:t>
            </a: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Benchmarking and validation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i="0" lang="en-US" sz="1300" u="none" cap="none" strike="noStrike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technical repor</a:t>
            </a:r>
            <a:r>
              <a:rPr lang="en-US" sz="1300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300">
              <a:solidFill>
                <a:srgbClr val="2D3E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D3E50"/>
              </a:buClr>
              <a:buSzPts val="1300"/>
              <a:buFont typeface="Times New Roman"/>
              <a:buChar char="•"/>
            </a:pPr>
            <a:r>
              <a:rPr lang="en-US" sz="1300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export (CSV)</a:t>
            </a:r>
            <a:endParaRPr sz="1300">
              <a:solidFill>
                <a:srgbClr val="2D3E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D3E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User Interface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548640" y="6236208"/>
            <a:ext cx="11091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D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B7D"/>
                </a:solidFill>
                <a:latin typeface="Calibri"/>
                <a:ea typeface="Calibri"/>
                <a:cs typeface="Calibri"/>
                <a:sym typeface="Calibri"/>
              </a:rPr>
              <a:t>Dataset management · experiment configuration · results and visualization panels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5" y="1600200"/>
            <a:ext cx="5691099" cy="452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9625" y="1600200"/>
            <a:ext cx="5839977" cy="452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25" y="245012"/>
            <a:ext cx="11528349" cy="63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59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594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33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Source Code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1" name="Google Shape;3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50" y="1271875"/>
            <a:ext cx="5661274" cy="53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6225" y="1271875"/>
            <a:ext cx="5576150" cy="527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"/>
          <p:cNvSpPr/>
          <p:nvPr/>
        </p:nvSpPr>
        <p:spPr>
          <a:xfrm>
            <a:off x="548640" y="260604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548640" y="361188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3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9C3DC"/>
                </a:solidFill>
                <a:latin typeface="Calibri"/>
                <a:ea typeface="Calibri"/>
                <a:cs typeface="Calibri"/>
                <a:sym typeface="Calibri"/>
              </a:rPr>
              <a:t>Questions and feedback are welcome.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548640" y="5852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3A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93AC"/>
                </a:solidFill>
                <a:latin typeface="Calibri"/>
                <a:ea typeface="Calibri"/>
                <a:cs typeface="Calibri"/>
                <a:sym typeface="Calibri"/>
              </a:rPr>
              <a:t>Hasnain Sheikh  ·  BSSE-1408  ·  Institute of Information Technology, University of Dhaka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